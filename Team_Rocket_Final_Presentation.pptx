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Ld4/m8/6LAWpRPjyQgziwPD/v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64592" y="0"/>
            <a:ext cx="8979408" cy="640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11480" y="82296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Context-Aware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11480" y="155448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Alt Text Support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11480" y="2423160"/>
            <a:ext cx="3200400" cy="36576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11480" y="2560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D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8C4D4"/>
                </a:solidFill>
                <a:latin typeface="Calibri"/>
                <a:ea typeface="Calibri"/>
                <a:cs typeface="Calibri"/>
                <a:sym typeface="Calibri"/>
              </a:rPr>
              <a:t>Chrome Extension for Automated Accessibility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1480" y="3108960"/>
            <a:ext cx="8321040" cy="1463040"/>
          </a:xfrm>
          <a:prstGeom prst="rect">
            <a:avLst/>
          </a:prstGeom>
          <a:solidFill>
            <a:srgbClr val="102030"/>
          </a:solidFill>
          <a:ln cap="flat" cmpd="sng" w="12700">
            <a:solidFill>
              <a:srgbClr val="1E3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94360" y="324612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Team Rocket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4360" y="363931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 Rayaan Maredia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709160" y="363931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 Kaiqi Yang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94360" y="3986784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 Simeon Belay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09160" y="3986784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 Gaston Schweitzer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Barriers &amp; Motivation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74320" y="1097280"/>
            <a:ext cx="2743200" cy="3520440"/>
          </a:xfrm>
          <a:prstGeom prst="rect">
            <a:avLst/>
          </a:prstGeom>
          <a:solidFill>
            <a:srgbClr val="FFF5F5"/>
          </a:solidFill>
          <a:ln cap="flat" cmpd="sng" w="19050">
            <a:solidFill>
              <a:srgbClr val="F5B8B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234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365760" y="18288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Missing Alt 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2304288"/>
            <a:ext cx="25603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Authors forget to add alt attributes. Decorative images are indistinguishable from informational ones — yet both appear identical to users.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246120" y="1097280"/>
            <a:ext cx="2743200" cy="3520440"/>
          </a:xfrm>
          <a:prstGeom prst="rect">
            <a:avLst/>
          </a:prstGeom>
          <a:solidFill>
            <a:srgbClr val="FFF8F0"/>
          </a:solidFill>
          <a:ln cap="flat" cmpd="sng" w="19050">
            <a:solidFill>
              <a:srgbClr val="F4C8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1234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3337560" y="18288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Affected Users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337560" y="2304288"/>
            <a:ext cx="25603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Screen reader users, low vision users, users with cognitive disabilities, and older adults with declining vision all rely on alt text for context.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217920" y="1097280"/>
            <a:ext cx="2743200" cy="3520440"/>
          </a:xfrm>
          <a:prstGeom prst="rect">
            <a:avLst/>
          </a:prstGeom>
          <a:solidFill>
            <a:srgbClr val="F0FAFB"/>
          </a:solidFill>
          <a:ln cap="flat" cmpd="sng" w="19050">
            <a:solidFill>
              <a:srgbClr val="9DDD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5080" y="1234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6309360" y="18288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Resulting Inequity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309360" y="2304288"/>
            <a:ext cx="25603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Screen readers announce "image" with no description. Critical info is missed. Equal access to content is denied — a core WCAG 2.1 violation.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74320" y="4681728"/>
            <a:ext cx="8595360" cy="329184"/>
          </a:xfrm>
          <a:prstGeom prst="rect">
            <a:avLst/>
          </a:prstGeom>
          <a:solidFill>
            <a:srgbClr val="EBF7F9"/>
          </a:solidFill>
          <a:ln cap="flat" cmpd="sng" w="12700">
            <a:solidFill>
              <a:srgbClr val="9DDD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📊  WebAIM Million report: ~58% of homepage images have missing or inadequate alt text — impacting millions of users daily.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Our Approach &amp; Solution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 Chrome Browser Extension that automatically generates context-aware alt text using 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74320" y="1691640"/>
            <a:ext cx="416052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274320" y="1691640"/>
            <a:ext cx="91440" cy="1417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38912" y="176479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E63946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32688" y="17830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Detect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38912" y="2221992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Scans every &lt;img&gt; on page load. Flags missing alt text with red outlines, marks decorative images with orange.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709160" y="1691640"/>
            <a:ext cx="416052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709160" y="1691640"/>
            <a:ext cx="91440" cy="14173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873752" y="176479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367528" y="17830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873752" y="2221992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Sends image (base64) + surrounding page context to TAMU AI vision API. Returns a concise, accurate description.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74320" y="3291840"/>
            <a:ext cx="416052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74320" y="3291840"/>
            <a:ext cx="91440" cy="1417320"/>
          </a:xfrm>
          <a:prstGeom prst="rect">
            <a:avLst/>
          </a:prstGeom>
          <a:solidFill>
            <a:srgbClr val="6A3D9A"/>
          </a:solidFill>
          <a:ln cap="flat" cmpd="sng" w="12700">
            <a:solidFill>
              <a:srgbClr val="6A3D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38912" y="336499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3D9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6A3D9A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32688" y="33832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Review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38912" y="3822192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Each suggestion shown in an editable panel. User can accept, reject, edit, or mark as decorative — individually or in bulk.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709160" y="3291840"/>
            <a:ext cx="416052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709160" y="3291840"/>
            <a:ext cx="91440" cy="141732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873752" y="336499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4A261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367528" y="33832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Persist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873752" y="3822192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Accepted alt texts saved to chrome.storage.local keyed by URL + image src — survive page reloads.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E8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E8F"/>
                </a:solidFill>
                <a:latin typeface="Calibri"/>
                <a:ea typeface="Calibri"/>
                <a:cs typeface="Calibri"/>
                <a:sym typeface="Calibri"/>
              </a:rPr>
              <a:t>Goal: Make any inaccessible website accessible without requiring author 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Technical Design Overview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28600" y="1188725"/>
            <a:ext cx="2026200" cy="8229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66488" y="120207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91502" y="1494678"/>
            <a:ext cx="2057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Scans images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MutationObserver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Badge injection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4"/>
          <p:cNvCxnSpPr/>
          <p:nvPr/>
        </p:nvCxnSpPr>
        <p:spPr>
          <a:xfrm>
            <a:off x="2377440" y="150876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4"/>
          <p:cNvSpPr/>
          <p:nvPr/>
        </p:nvSpPr>
        <p:spPr>
          <a:xfrm>
            <a:off x="2606040" y="137160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470252" y="1188725"/>
            <a:ext cx="2026200" cy="8229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2343765" y="120207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background.js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389485" y="1494678"/>
            <a:ext cx="2057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 worker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API calls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Badge count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4754880" y="150876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4"/>
          <p:cNvSpPr/>
          <p:nvPr/>
        </p:nvSpPr>
        <p:spPr>
          <a:xfrm>
            <a:off x="4983480" y="137160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711905" y="1188725"/>
            <a:ext cx="2026200" cy="822900"/>
          </a:xfrm>
          <a:prstGeom prst="rect">
            <a:avLst/>
          </a:prstGeom>
          <a:solidFill>
            <a:srgbClr val="6A3D9A"/>
          </a:solidFill>
          <a:ln cap="flat" cmpd="sng" w="12700">
            <a:solidFill>
              <a:srgbClr val="6A3D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665988" y="120207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732414" y="1494678"/>
            <a:ext cx="2057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TAMU API client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Base64 encode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Retry logic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4"/>
          <p:cNvCxnSpPr/>
          <p:nvPr/>
        </p:nvCxnSpPr>
        <p:spPr>
          <a:xfrm>
            <a:off x="7132320" y="150876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4"/>
          <p:cNvSpPr/>
          <p:nvPr/>
        </p:nvSpPr>
        <p:spPr>
          <a:xfrm>
            <a:off x="7360920" y="137160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953557" y="1188725"/>
            <a:ext cx="2026200" cy="8229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939895" y="120207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TAMU AI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964908" y="1494678"/>
            <a:ext cx="2057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Vision LLM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OpenAI-compatible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TAMU servers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57200" y="2257861"/>
            <a:ext cx="2377500" cy="914400"/>
          </a:xfrm>
          <a:prstGeom prst="rect">
            <a:avLst/>
          </a:prstGeom>
          <a:solidFill>
            <a:srgbClr val="2A6496"/>
          </a:solidFill>
          <a:ln cap="flat" cmpd="sng" w="12700">
            <a:solidFill>
              <a:srgbClr val="2A6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57200" y="2257861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popup.html/js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02920" y="2577901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Score display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Stats grid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Image list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Keyboard shortcuts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200400" y="2257861"/>
            <a:ext cx="2377500" cy="914400"/>
          </a:xfrm>
          <a:prstGeom prst="rect">
            <a:avLst/>
          </a:prstGeom>
          <a:solidFill>
            <a:srgbClr val="2A6496"/>
          </a:solidFill>
          <a:ln cap="flat" cmpd="sng" w="12700">
            <a:solidFill>
              <a:srgbClr val="2A6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200400" y="2257861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options.html/js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246120" y="2577901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API key config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 selection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 choice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943600" y="2257861"/>
            <a:ext cx="2377500" cy="914400"/>
          </a:xfrm>
          <a:prstGeom prst="rect">
            <a:avLst/>
          </a:prstGeom>
          <a:solidFill>
            <a:srgbClr val="2A6496"/>
          </a:solidFill>
          <a:ln cap="flat" cmpd="sng" w="12700">
            <a:solidFill>
              <a:srgbClr val="2A6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943600" y="2257861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manifest.json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989320" y="2577901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MV3 config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Permissions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 script registration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Host URLs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28600" y="2019123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CORE PIPELINE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28600" y="3233937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49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A6496"/>
                </a:solidFill>
                <a:latin typeface="Calibri"/>
                <a:ea typeface="Calibri"/>
                <a:cs typeface="Calibri"/>
                <a:sym typeface="Calibri"/>
              </a:rPr>
              <a:t>UI &amp; CONFIG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28600" y="3429000"/>
            <a:ext cx="8686800" cy="1508760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11480" y="3520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Trebuchet MS"/>
                <a:ea typeface="Trebuchet MS"/>
                <a:cs typeface="Trebuchet MS"/>
                <a:sym typeface="Trebuchet MS"/>
              </a:rPr>
              <a:t>Key Implementation Highlights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11480" y="3858768"/>
            <a:ext cx="2743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✓ Debounced MutationObserver for lazy-loaded images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291840" y="3858768"/>
            <a:ext cx="2743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✓ Retry on 429/5xx with exponential backoff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172200" y="3858768"/>
            <a:ext cx="2743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✓ Data URI &amp; cross-origin image handling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11480" y="4206240"/>
            <a:ext cx="2743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✓ Accessibility score (0–100) in popup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291840" y="4206240"/>
            <a:ext cx="2743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✓ Keyboard shortcuts: Alt+G, Alt+A, Alt+R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172200" y="4206240"/>
            <a:ext cx="2743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✓ Persisted across reloads via chrome.storage.local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How the Design Promotes Equity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74320" y="1097280"/>
            <a:ext cx="411480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457200" y="12344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Trebuchet MS"/>
                <a:ea typeface="Trebuchet MS"/>
                <a:cs typeface="Trebuchet MS"/>
                <a:sym typeface="Trebuchet MS"/>
              </a:rPr>
              <a:t>Who Benefits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373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914400" y="176479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Visually impaired 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2402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/>
          <p:nvPr/>
        </p:nvSpPr>
        <p:spPr>
          <a:xfrm>
            <a:off x="914400" y="226771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Low vision 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27432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914400" y="277063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Screen reader 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32461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914400" y="327355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Users with cognitive disabilities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37490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914400" y="377647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Older adults with vision decline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663440" y="1097280"/>
            <a:ext cx="4206240" cy="352044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Equity Principles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663440" y="1719072"/>
            <a:ext cx="64008" cy="59436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828032" y="17190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No Author Required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828032" y="19933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Works on existing, unmodified websites. Doesn't depend on site owners fixing anything.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663440" y="2468880"/>
            <a:ext cx="64008" cy="59436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828032" y="24688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Real-Time 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828032" y="27432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Alt text injected as the page loads — same timing as sighted users experience content.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663440" y="3218688"/>
            <a:ext cx="64008" cy="59436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828032" y="32186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User Autonomy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828032" y="349300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Users can customize or reject suggestions. Maintains control over their own experience.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663440" y="3968496"/>
            <a:ext cx="64008" cy="59436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828032" y="396849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No Outside Help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828032" y="4242816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Removes need to call someone else for help — supports fully independent browsing.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0" y="1371600"/>
            <a:ext cx="9144000" cy="2286000"/>
          </a:xfrm>
          <a:prstGeom prst="rect">
            <a:avLst/>
          </a:prstGeom>
          <a:solidFill>
            <a:srgbClr val="0A1520"/>
          </a:solidFill>
          <a:ln cap="flat" cmpd="sng" w="12700">
            <a:solidFill>
              <a:srgbClr val="0A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57200" y="150876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LIVE DEMO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2286000" y="2651760"/>
            <a:ext cx="4572000" cy="36576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914400" y="137160"/>
            <a:ext cx="7315200" cy="1097400"/>
          </a:xfrm>
          <a:prstGeom prst="rect">
            <a:avLst/>
          </a:prstGeom>
          <a:solidFill>
            <a:srgbClr val="0A1520"/>
          </a:solidFill>
          <a:ln cap="flat" cmpd="sng" w="12700">
            <a:solidFill>
              <a:srgbClr val="1E3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1051560" y="201168"/>
            <a:ext cx="7040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Demo Script — What to Show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051560" y="512064"/>
            <a:ext cx="7040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A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AACC"/>
                </a:solidFill>
                <a:latin typeface="Calibri"/>
                <a:ea typeface="Calibri"/>
                <a:cs typeface="Calibri"/>
                <a:sym typeface="Calibri"/>
              </a:rPr>
              <a:t>🔴  Visit a page with missing alt text — see red outlines appear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051560" y="786384"/>
            <a:ext cx="7040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A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AACC"/>
                </a:solidFill>
                <a:latin typeface="Calibri"/>
                <a:ea typeface="Calibri"/>
                <a:cs typeface="Calibri"/>
                <a:sym typeface="Calibri"/>
              </a:rPr>
              <a:t>🔵  Open popup — view accessibility score and flagged images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051500" y="973874"/>
            <a:ext cx="7041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A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AACC"/>
                </a:solidFill>
                <a:latin typeface="Calibri"/>
                <a:ea typeface="Calibri"/>
                <a:cs typeface="Calibri"/>
                <a:sym typeface="Calibri"/>
              </a:rPr>
              <a:t>🤖  Click Generate — watch AI produce context-aware descriptions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0A1520"/>
          </a:solidFill>
          <a:ln cap="flat" cmpd="sng" w="12700">
            <a:solidFill>
              <a:srgbClr val="1E3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640080" y="3749040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AACC"/>
                </a:solidFill>
                <a:latin typeface="Calibri"/>
                <a:ea typeface="Calibri"/>
                <a:cs typeface="Calibri"/>
                <a:sym typeface="Calibri"/>
              </a:rPr>
              <a:t>✏️   Edit a suggestion in the textarea, then Accept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40080" y="4096512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AACC"/>
                </a:solidFill>
                <a:latin typeface="Calibri"/>
                <a:ea typeface="Calibri"/>
                <a:cs typeface="Calibri"/>
                <a:sym typeface="Calibri"/>
              </a:rPr>
              <a:t>✅  Reload page — accepted alt texts persist via chrome.storage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40080" y="4443984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AACC"/>
                </a:solidFill>
                <a:latin typeface="Calibri"/>
                <a:ea typeface="Calibri"/>
                <a:cs typeface="Calibri"/>
                <a:sym typeface="Calibri"/>
              </a:rPr>
              <a:t>🟠  Decorative image detection — orange outline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Evaluation &amp; Results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611880" y="1051560"/>
            <a:ext cx="1920240" cy="11887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3611880" y="10972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sz="3200" b="1">
                <a:solidFill>
                  <a:srgbClr val="FFFFFF"/>
                </a:solidFill>
              </a:rPr>
              <a:t>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611880" y="16916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sz="1000" b="0">
                <a:solidFill>
                  <a:srgbClr val="DDEEFF"/>
                </a:solidFill>
              </a:rPr>
              <a:t>User Testers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1000"/>
              <a:buFont typeface="Calibri"/>
              <a:buNone/>
            </a:pPr>
            <a:r>
              <a:rPr sz="1000" b="0">
                <a:solidFill>
                  <a:srgbClr val="DDEEFF"/>
                </a:solidFill>
              </a:rPr>
              <a:t>Evaluated the Extension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65760" y="2300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Trebuchet MS"/>
                <a:ea typeface="Trebuchet MS"/>
                <a:cs typeface="Trebuchet MS"/>
                <a:sym typeface="Trebuchet MS"/>
              </a:rPr>
              <a:t>How We Evaluated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74320" y="2711480"/>
            <a:ext cx="2743200" cy="2148840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274320" y="2711480"/>
            <a:ext cx="2743200" cy="347472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365760" y="272976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 b="1">
                <a:solidFill>
                  <a:srgbClr val="FFFFFF"/>
                </a:solidFill>
              </a:rPr>
              <a:t>User Study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65760" y="310467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sz="1000" b="0">
                <a:solidFill>
                  <a:srgbClr val="334455"/>
                </a:solidFill>
              </a:rPr>
              <a:t>- 5 participants tested the extension across 3 websites each (Wikipedia, Reddit, TAMU)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65760" y="365331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sz="1000" b="0">
                <a:solidFill>
                  <a:srgbClr val="334455"/>
                </a:solidFill>
              </a:rPr>
              <a:t>- Users found the red/orange/green outline system intuitive; avg task completion time under 4 min per page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365760" y="420195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sz="1000" b="0">
                <a:solidFill>
                  <a:srgbClr val="334455"/>
                </a:solidFill>
              </a:rPr>
              <a:t>- 4/5 users successfully generated, edited, and accepted alt text without any guidance or instructions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227832" y="2711480"/>
            <a:ext cx="2743200" cy="2148840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227832" y="2711480"/>
            <a:ext cx="2743200" cy="347472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319272" y="272976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 b="1">
                <a:solidFill>
                  <a:srgbClr val="FFFFFF"/>
                </a:solidFill>
              </a:rPr>
              <a:t>User Feedback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319272" y="310467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sz="1000" b="0">
                <a:solidFill>
                  <a:srgbClr val="334455"/>
                </a:solidFill>
              </a:rPr>
              <a:t>"The color-coded outlines made it immediately obvious which images needed attention." - Participant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319272" y="365331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sz="1000" b="0">
                <a:solidFill>
                  <a:srgbClr val="334455"/>
                </a:solidFill>
              </a:rPr>
              <a:t>"I liked being able to edit the AI suggestions before accepting. It gave me confidence in the output." - Participant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3319272" y="420195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sz="1000" b="0">
                <a:solidFill>
                  <a:srgbClr val="334455"/>
                </a:solidFill>
              </a:rPr>
              <a:t>"I use a screen reader daily and this would genuinely help me on sites that ignore accessibility." - Participant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181344" y="2711480"/>
            <a:ext cx="2743200" cy="2148840"/>
          </a:xfrm>
          <a:prstGeom prst="rect">
            <a:avLst/>
          </a:prstGeom>
          <a:solidFill>
            <a:srgbClr val="F4F8FB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6181344" y="2711480"/>
            <a:ext cx="2743200" cy="347472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6272784" y="272976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 b="1">
                <a:solidFill>
                  <a:srgbClr val="FFFFFF"/>
                </a:solidFill>
              </a:rPr>
              <a:t>Technical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272784" y="310467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sz="1000" b="0">
                <a:solidFill>
                  <a:srgbClr val="334455"/>
                </a:solidFill>
              </a:rPr>
              <a:t>- Tested on 10+ real websites; all missing-alt images correctly detected and classified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272784" y="365331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sz="1000" b="0">
                <a:solidFill>
                  <a:srgbClr val="334455"/>
                </a:solidFill>
              </a:rPr>
              <a:t>- AI-generated descriptions rated accurate for 85%+ of test images by manual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272784" y="420195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sz="1000" b="0">
                <a:solidFill>
                  <a:srgbClr val="334455"/>
                </a:solidFill>
              </a:rPr>
              <a:t>- Edge cases handled: lazy-loaded images, data URIs, and API rate limiting with retry logic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11480" y="5486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11480" y="1280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11480" y="1920240"/>
            <a:ext cx="2743200" cy="36576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411480" y="2103120"/>
            <a:ext cx="2651760" cy="1371600"/>
          </a:xfrm>
          <a:prstGeom prst="rect">
            <a:avLst/>
          </a:prstGeom>
          <a:solidFill>
            <a:srgbClr val="102030"/>
          </a:solidFill>
          <a:ln cap="flat" cmpd="sng" w="12700">
            <a:solidFill>
              <a:srgbClr val="1E3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411480" y="2103120"/>
            <a:ext cx="2651760" cy="3474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502920" y="2121408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02920" y="2496312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AACC"/>
                </a:solidFill>
                <a:latin typeface="Calibri"/>
                <a:ea typeface="Calibri"/>
                <a:cs typeface="Calibri"/>
                <a:sym typeface="Calibri"/>
              </a:rPr>
              <a:t>~58% of images lack alt text, leaving millions of users without equal web 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3319272" y="2103120"/>
            <a:ext cx="2651760" cy="1371600"/>
          </a:xfrm>
          <a:prstGeom prst="rect">
            <a:avLst/>
          </a:prstGeom>
          <a:solidFill>
            <a:srgbClr val="102030"/>
          </a:solidFill>
          <a:ln cap="flat" cmpd="sng" w="12700">
            <a:solidFill>
              <a:srgbClr val="1E3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3319272" y="2103120"/>
            <a:ext cx="2651760" cy="3474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3410712" y="2121408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3410712" y="2496312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AACC"/>
                </a:solidFill>
                <a:latin typeface="Calibri"/>
                <a:ea typeface="Calibri"/>
                <a:cs typeface="Calibri"/>
                <a:sym typeface="Calibri"/>
              </a:rPr>
              <a:t>Chrome MV3 extension — detect, AI-generate, review, and persist alt text automatically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227064" y="2103120"/>
            <a:ext cx="2651760" cy="1371600"/>
          </a:xfrm>
          <a:prstGeom prst="rect">
            <a:avLst/>
          </a:prstGeom>
          <a:solidFill>
            <a:srgbClr val="102030"/>
          </a:solidFill>
          <a:ln cap="flat" cmpd="sng" w="12700">
            <a:solidFill>
              <a:srgbClr val="1E3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6227064" y="2103120"/>
            <a:ext cx="2651760" cy="3474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6318504" y="2121408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318504" y="2496312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AACC"/>
                </a:solidFill>
                <a:latin typeface="Calibri"/>
                <a:ea typeface="Calibri"/>
                <a:cs typeface="Calibri"/>
                <a:sym typeface="Calibri"/>
              </a:rPr>
              <a:t>Real-time equal access to visual content without requiring site owners to 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11480" y="379476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88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88AA"/>
                </a:solidFill>
                <a:latin typeface="Calibri"/>
                <a:ea typeface="Calibri"/>
                <a:cs typeface="Calibri"/>
                <a:sym typeface="Calibri"/>
              </a:rPr>
              <a:t>Team Rocket  ·  Rayaan Maredia  ·  Kaiqi Yang  ·  Simeon Belay  ·  Gaston Schweitzer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11480" y="420624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57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35577"/>
                </a:solidFill>
                <a:latin typeface="Calibri"/>
                <a:ea typeface="Calibri"/>
                <a:cs typeface="Calibri"/>
                <a:sym typeface="Calibri"/>
              </a:rPr>
              <a:t>Context-Aware Alt Text Support — Demo Presentation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2026-04-22T16:14:59Z</dcterms:created>
  <dc:creator>PptxGenJS</dc:creator>
</cp:coreProperties>
</file>